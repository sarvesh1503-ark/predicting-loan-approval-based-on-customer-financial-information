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73" r:id="rId6"/>
    <p:sldId id="258" r:id="rId7"/>
    <p:sldId id="259" r:id="rId8"/>
    <p:sldId id="261" r:id="rId9"/>
    <p:sldId id="262" r:id="rId10"/>
    <p:sldId id="263" r:id="rId11"/>
    <p:sldId id="265" r:id="rId12"/>
    <p:sldId id="266" r:id="rId13"/>
    <p:sldId id="267" r:id="rId14"/>
    <p:sldId id="268" r:id="rId15"/>
    <p:sldId id="269" r:id="rId16"/>
    <p:sldId id="274" r:id="rId17"/>
    <p:sldId id="270" r:id="rId18"/>
    <p:sldId id="271" r:id="rId19"/>
    <p:sldId id="272"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B591053-D031-4802-A99B-086511E034F7}"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4" d="100"/>
          <a:sy n="84" d="100"/>
        </p:scale>
        <p:origin x="629"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4" name="Google Shape;13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9"/>
        <p:cNvGrpSpPr/>
        <p:nvPr/>
      </p:nvGrpSpPr>
      <p:grpSpPr>
        <a:xfrm>
          <a:off x="0" y="0"/>
          <a:ext cx="0" cy="0"/>
          <a:chOff x="0" y="0"/>
          <a:chExt cx="0" cy="0"/>
        </a:xfrm>
      </p:grpSpPr>
      <p:sp>
        <p:nvSpPr>
          <p:cNvPr id="140" name="Google Shape;14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2" name="Google Shape;142;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3"/>
        <p:cNvGrpSpPr/>
        <p:nvPr/>
      </p:nvGrpSpPr>
      <p:grpSpPr>
        <a:xfrm>
          <a:off x="0" y="0"/>
          <a:ext cx="0" cy="0"/>
          <a:chOff x="0" y="0"/>
          <a:chExt cx="0" cy="0"/>
        </a:xfrm>
      </p:grpSpPr>
      <p:sp>
        <p:nvSpPr>
          <p:cNvPr id="174" name="Google Shape;17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6" name="Google Shape;176;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9" name="Google Shape;18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3"/>
        <p:cNvGrpSpPr/>
        <p:nvPr/>
      </p:nvGrpSpPr>
      <p:grpSpPr>
        <a:xfrm>
          <a:off x="0" y="0"/>
          <a:ext cx="0" cy="0"/>
          <a:chOff x="0" y="0"/>
          <a:chExt cx="0" cy="0"/>
        </a:xfrm>
      </p:grpSpPr>
      <p:sp>
        <p:nvSpPr>
          <p:cNvPr id="194" name="Google Shape;19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5" name="Google Shape;19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2" name="Google Shape;202;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0"/>
        <p:cNvGrpSpPr/>
        <p:nvPr/>
      </p:nvGrpSpPr>
      <p:grpSpPr>
        <a:xfrm>
          <a:off x="0" y="0"/>
          <a:ext cx="0" cy="0"/>
          <a:chOff x="0" y="0"/>
          <a:chExt cx="0" cy="0"/>
        </a:xfrm>
      </p:grpSpPr>
      <p:sp>
        <p:nvSpPr>
          <p:cNvPr id="221" name="Google Shape;22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3" name="Google Shape;22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7"/>
        <p:cNvGrpSpPr/>
        <p:nvPr/>
      </p:nvGrpSpPr>
      <p:grpSpPr>
        <a:xfrm>
          <a:off x="0" y="0"/>
          <a:ext cx="0" cy="0"/>
          <a:chOff x="0" y="0"/>
          <a:chExt cx="0" cy="0"/>
        </a:xfrm>
      </p:grpSpPr>
      <p:sp>
        <p:nvSpPr>
          <p:cNvPr id="228" name="Google Shape;22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9" name="Google Shape;22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1_Blank">
  <p:cSld name="OBJECT">
    <p:spTree>
      <p:nvGrpSpPr>
        <p:cNvPr id="1" name="Shape 15"/>
        <p:cNvGrpSpPr/>
        <p:nvPr/>
      </p:nvGrpSpPr>
      <p:grpSpPr>
        <a:xfrm>
          <a:off x="0" y="0"/>
          <a:ext cx="0" cy="0"/>
          <a:chOff x="0" y="0"/>
          <a:chExt cx="0" cy="0"/>
        </a:xfrm>
      </p:grpSpPr>
      <p:sp>
        <p:nvSpPr>
          <p:cNvPr id="16" name="Google Shape;16;p19"/>
          <p:cNvSpPr txBox="1">
            <a:spLocks noGrp="1"/>
          </p:cNvSpPr>
          <p:nvPr>
            <p:ph type="ftr" idx="11"/>
          </p:nvPr>
        </p:nvSpPr>
        <p:spPr>
          <a:xfrm>
            <a:off x="4038600" y="6356350"/>
            <a:ext cx="4114800" cy="365125"/>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38100" marR="0" lvl="0"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1pPr>
            <a:lvl2pPr marL="38100" marR="0" lvl="1"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2pPr>
            <a:lvl3pPr marL="38100" marR="0" lvl="2"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3pPr>
            <a:lvl4pPr marL="38100" marR="0" lvl="3"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4pPr>
            <a:lvl5pPr marL="38100" marR="0" lvl="4"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5pPr>
            <a:lvl6pPr marL="38100" marR="0" lvl="5"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6pPr>
            <a:lvl7pPr marL="38100" marR="0" lvl="6"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7pPr>
            <a:lvl8pPr marL="38100" marR="0" lvl="7"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8pPr>
            <a:lvl9pPr marL="38100" marR="0" lvl="8" indent="0" algn="r">
              <a:lnSpc>
                <a:spcPct val="103000"/>
              </a:lnSpc>
              <a:spcBef>
                <a:spcPts val="0"/>
              </a:spcBef>
              <a:spcAft>
                <a:spcPts val="0"/>
              </a:spcAft>
              <a:buClr>
                <a:srgbClr val="000000"/>
              </a:buClr>
              <a:buSzPts val="1200"/>
              <a:buFont typeface="Arial" panose="020B0604020202020204"/>
              <a:buNone/>
              <a:defRPr sz="1200" b="0" i="0" u="none" strike="noStrike" cap="none">
                <a:solidFill>
                  <a:srgbClr val="878787"/>
                </a:solidFill>
                <a:latin typeface="Calibri" panose="020F0502020204030204"/>
                <a:ea typeface="Calibri" panose="020F0502020204030204"/>
                <a:cs typeface="Calibri" panose="020F0502020204030204"/>
                <a:sym typeface="Calibri" panose="020F0502020204030204"/>
              </a:defRPr>
            </a:lvl9pPr>
          </a:lstStyle>
          <a:p>
            <a:pPr marL="3810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OBJECT 2">
    <p:spTree>
      <p:nvGrpSpPr>
        <p:cNvPr id="1" name="Shape 19"/>
        <p:cNvGrpSpPr/>
        <p:nvPr/>
      </p:nvGrpSpPr>
      <p:grpSpPr>
        <a:xfrm>
          <a:off x="0" y="0"/>
          <a:ext cx="0" cy="0"/>
          <a:chOff x="0" y="0"/>
          <a:chExt cx="0" cy="0"/>
        </a:xfrm>
      </p:grpSpPr>
      <p:sp>
        <p:nvSpPr>
          <p:cNvPr id="20" name="Google Shape;2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30"/>
        <p:cNvGrpSpPr/>
        <p:nvPr/>
      </p:nvGrpSpPr>
      <p:grpSpPr>
        <a:xfrm>
          <a:off x="0" y="0"/>
          <a:ext cx="0" cy="0"/>
          <a:chOff x="0" y="0"/>
          <a:chExt cx="0" cy="0"/>
        </a:xfrm>
      </p:grpSpPr>
      <p:sp>
        <p:nvSpPr>
          <p:cNvPr id="31" name="Google Shape;3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4"/>
        <p:cNvGrpSpPr/>
        <p:nvPr/>
      </p:nvGrpSpPr>
      <p:grpSpPr>
        <a:xfrm>
          <a:off x="0" y="0"/>
          <a:ext cx="0" cy="0"/>
          <a:chOff x="0" y="0"/>
          <a:chExt cx="0" cy="0"/>
        </a:xfrm>
      </p:grpSpPr>
      <p:sp>
        <p:nvSpPr>
          <p:cNvPr id="35" name="Google Shape;35;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3" name="Google Shape;43;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7"/>
        <p:cNvGrpSpPr/>
        <p:nvPr/>
      </p:nvGrpSpPr>
      <p:grpSpPr>
        <a:xfrm>
          <a:off x="0" y="0"/>
          <a:ext cx="0" cy="0"/>
          <a:chOff x="0" y="0"/>
          <a:chExt cx="0" cy="0"/>
        </a:xfrm>
      </p:grpSpPr>
      <p:sp>
        <p:nvSpPr>
          <p:cNvPr id="48" name="Google Shape;48;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0" name="Google Shape;50;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2" name="Google Shape;52;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3" name="Google Shape;5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6"/>
        <p:cNvGrpSpPr/>
        <p:nvPr/>
      </p:nvGrpSpPr>
      <p:grpSpPr>
        <a:xfrm>
          <a:off x="0" y="0"/>
          <a:ext cx="0" cy="0"/>
          <a:chOff x="0" y="0"/>
          <a:chExt cx="0" cy="0"/>
        </a:xfrm>
      </p:grpSpPr>
      <p:sp>
        <p:nvSpPr>
          <p:cNvPr id="57" name="Google Shape;57;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9" name="Google Shape;59;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0" name="Google Shape;6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3"/>
        <p:cNvGrpSpPr/>
        <p:nvPr/>
      </p:nvGrpSpPr>
      <p:grpSpPr>
        <a:xfrm>
          <a:off x="0" y="0"/>
          <a:ext cx="0" cy="0"/>
          <a:chOff x="0" y="0"/>
          <a:chExt cx="0" cy="0"/>
        </a:xfrm>
      </p:grpSpPr>
      <p:sp>
        <p:nvSpPr>
          <p:cNvPr id="64" name="Google Shape;64;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7"/>
          <p:cNvSpPr>
            <a:spLocks noGrp="1"/>
          </p:cNvSpPr>
          <p:nvPr>
            <p:ph type="pic" idx="2"/>
          </p:nvPr>
        </p:nvSpPr>
        <p:spPr>
          <a:xfrm>
            <a:off x="5183188" y="987425"/>
            <a:ext cx="6172200" cy="4873625"/>
          </a:xfrm>
          <a:prstGeom prst="rect">
            <a:avLst/>
          </a:prstGeom>
          <a:noFill/>
          <a:ln>
            <a:noFill/>
          </a:ln>
        </p:spPr>
      </p:sp>
      <p:sp>
        <p:nvSpPr>
          <p:cNvPr id="66" name="Google Shape;66;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7" name="Google Shape;6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3" name="Google Shape;73;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6"/>
        <p:cNvGrpSpPr/>
        <p:nvPr/>
      </p:nvGrpSpPr>
      <p:grpSpPr>
        <a:xfrm>
          <a:off x="0" y="0"/>
          <a:ext cx="0" cy="0"/>
          <a:chOff x="0" y="0"/>
          <a:chExt cx="0" cy="0"/>
        </a:xfrm>
      </p:grpSpPr>
      <p:sp>
        <p:nvSpPr>
          <p:cNvPr id="77" name="Google Shape;77;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9" name="Google Shape;7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Text">
  <p:cSld name="TITLE_AND_BODY">
    <p:spTree>
      <p:nvGrpSpPr>
        <p:cNvPr id="1" name="Shape 82"/>
        <p:cNvGrpSpPr/>
        <p:nvPr/>
      </p:nvGrpSpPr>
      <p:grpSpPr>
        <a:xfrm>
          <a:off x="0" y="0"/>
          <a:ext cx="0" cy="0"/>
          <a:chOff x="0" y="0"/>
          <a:chExt cx="0" cy="0"/>
        </a:xfrm>
      </p:grpSpPr>
      <p:sp>
        <p:nvSpPr>
          <p:cNvPr id="83" name="Google Shape;8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p:txBody>
      </p:sp>
      <p:sp>
        <p:nvSpPr>
          <p:cNvPr id="85" name="Google Shape;8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2583307" y="2439161"/>
            <a:ext cx="7026909" cy="1862754"/>
          </a:xfrm>
          <a:prstGeom prst="rect">
            <a:avLst/>
          </a:prstGeom>
          <a:noFill/>
          <a:ln>
            <a:noFill/>
          </a:ln>
        </p:spPr>
        <p:txBody>
          <a:bodyPr spcFirstLastPara="1" wrap="square" lIns="0" tIns="60325" rIns="0" bIns="0" anchor="t" anchorCtr="0">
            <a:spAutoFit/>
          </a:bodyPr>
          <a:lstStyle/>
          <a:p>
            <a:pPr marL="12065" marR="5080" lvl="0" indent="0" algn="ctr" rtl="0">
              <a:lnSpc>
                <a:spcPct val="105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DEPARTMENT OF ARTIFICIAL INTELLIGENCE AND MACHINE LEARNING</a:t>
            </a:r>
            <a:endParaRPr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8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AGI1242 – MACHINE LEARNING TECHNIQUES</a:t>
            </a:r>
            <a:endParaRPr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2305"/>
              </a:spcBef>
              <a:spcAft>
                <a:spcPts val="0"/>
              </a:spcAft>
              <a:buClr>
                <a:srgbClr val="000000"/>
              </a:buClr>
              <a:buSzPts val="2400"/>
              <a:buFont typeface="Arial" panose="020B0604020202020204"/>
              <a:buNone/>
            </a:pPr>
            <a:r>
              <a:rPr lang="en-US" sz="24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BATCH - 13</a:t>
            </a:r>
            <a:endParaRPr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3" name="Google Shape;93;p1"/>
          <p:cNvSpPr txBox="1"/>
          <p:nvPr/>
        </p:nvSpPr>
        <p:spPr>
          <a:xfrm>
            <a:off x="725906" y="4224725"/>
            <a:ext cx="3003550" cy="2596515"/>
          </a:xfrm>
          <a:prstGeom prst="rect">
            <a:avLst/>
          </a:prstGeom>
          <a:noFill/>
          <a:ln>
            <a:noFill/>
          </a:ln>
        </p:spPr>
        <p:txBody>
          <a:bodyPr spcFirstLastPara="1" wrap="square" lIns="0" tIns="12050" rIns="0" bIns="0" anchor="t" anchorCtr="0">
            <a:spAutoFit/>
          </a:bodyPr>
          <a:lstStyle/>
          <a:p>
            <a:pPr marL="12065" marR="5080" lvl="0" indent="-635" algn="l" rtl="0">
              <a:lnSpc>
                <a:spcPct val="100000"/>
              </a:lnSpc>
              <a:spcBef>
                <a:spcPts val="0"/>
              </a:spcBef>
              <a:spcAft>
                <a:spcPts val="0"/>
              </a:spcAft>
              <a:buClr>
                <a:srgbClr val="000000"/>
              </a:buClr>
              <a:buSzPts val="2800"/>
              <a:buFont typeface="Arial" panose="020B0604020202020204"/>
              <a:buNone/>
            </a:pPr>
            <a:r>
              <a:rPr lang="en-US"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Presented by :</a:t>
            </a:r>
            <a:endParaRPr lang="en-US"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2065" marR="5080" lvl="0" indent="-635" algn="l" rtl="0">
              <a:lnSpc>
                <a:spcPct val="100000"/>
              </a:lnSpc>
              <a:spcBef>
                <a:spcPts val="0"/>
              </a:spcBef>
              <a:spcAft>
                <a:spcPts val="0"/>
              </a:spcAft>
              <a:buClr>
                <a:srgbClr val="000000"/>
              </a:buClr>
              <a:buSzPts val="2800"/>
              <a:buFont typeface="Arial" panose="020B0604020202020204"/>
              <a:buNone/>
            </a:pPr>
            <a:r>
              <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saravanan.S</a:t>
            </a:r>
            <a:endPar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2065" marR="5080" lvl="0" indent="-635" algn="l" rtl="0">
              <a:lnSpc>
                <a:spcPct val="100000"/>
              </a:lnSpc>
              <a:spcBef>
                <a:spcPts val="0"/>
              </a:spcBef>
              <a:spcAft>
                <a:spcPts val="0"/>
              </a:spcAft>
              <a:buClr>
                <a:srgbClr val="000000"/>
              </a:buClr>
              <a:buSzPts val="2800"/>
              <a:buFont typeface="Arial" panose="020B0604020202020204"/>
              <a:buNone/>
            </a:pPr>
            <a:r>
              <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sarveshwaran.R</a:t>
            </a:r>
            <a:endPar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2065" marR="5080" lvl="0" indent="-635" algn="l" rtl="0">
              <a:lnSpc>
                <a:spcPct val="100000"/>
              </a:lnSpc>
              <a:spcBef>
                <a:spcPts val="0"/>
              </a:spcBef>
              <a:spcAft>
                <a:spcPts val="0"/>
              </a:spcAft>
              <a:buClr>
                <a:srgbClr val="000000"/>
              </a:buClr>
              <a:buSzPts val="2800"/>
              <a:buFont typeface="Arial" panose="020B0604020202020204"/>
              <a:buNone/>
            </a:pPr>
            <a:r>
              <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shiny teressa.S</a:t>
            </a:r>
            <a:endPar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2065" marR="5080" lvl="0" indent="-635" algn="l" rtl="0">
              <a:lnSpc>
                <a:spcPct val="100000"/>
              </a:lnSpc>
              <a:spcBef>
                <a:spcPts val="0"/>
              </a:spcBef>
              <a:spcAft>
                <a:spcPts val="0"/>
              </a:spcAft>
              <a:buClr>
                <a:srgbClr val="000000"/>
              </a:buClr>
              <a:buSzPts val="2800"/>
              <a:buFont typeface="Arial" panose="020B0604020202020204"/>
              <a:buNone/>
            </a:pPr>
            <a:r>
              <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shivashankar.S</a:t>
            </a:r>
            <a:endPar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2065" marR="5080" lvl="0" indent="-635" algn="l" rtl="0">
              <a:lnSpc>
                <a:spcPct val="100000"/>
              </a:lnSpc>
              <a:spcBef>
                <a:spcPts val="0"/>
              </a:spcBef>
              <a:spcAft>
                <a:spcPts val="0"/>
              </a:spcAft>
              <a:buClr>
                <a:srgbClr val="000000"/>
              </a:buClr>
              <a:buSzPts val="2800"/>
              <a:buFont typeface="Arial" panose="020B0604020202020204"/>
              <a:buNone/>
            </a:pPr>
            <a:endParaRPr lang="en-IN" sz="28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4" name="Google Shape;94;p1"/>
          <p:cNvSpPr txBox="1"/>
          <p:nvPr/>
        </p:nvSpPr>
        <p:spPr>
          <a:xfrm>
            <a:off x="6130212" y="4572000"/>
            <a:ext cx="5777943" cy="1819329"/>
          </a:xfrm>
          <a:prstGeom prst="rect">
            <a:avLst/>
          </a:prstGeom>
          <a:noFill/>
          <a:ln>
            <a:noFill/>
          </a:ln>
        </p:spPr>
        <p:txBody>
          <a:bodyPr spcFirstLastPara="1" wrap="square" lIns="0" tIns="12050" rIns="0" bIns="0" anchor="t" anchorCtr="0">
            <a:spAutoFit/>
          </a:bodyPr>
          <a:lstStyle/>
          <a:p>
            <a:pPr marL="12700" marR="977265" lvl="0" indent="0" algn="l" rtl="0">
              <a:lnSpc>
                <a:spcPct val="100000"/>
              </a:lnSpc>
              <a:spcBef>
                <a:spcPts val="0"/>
              </a:spcBef>
              <a:spcAft>
                <a:spcPts val="0"/>
              </a:spcAft>
              <a:buClr>
                <a:srgbClr val="000000"/>
              </a:buClr>
              <a:buSzPts val="2800"/>
              <a:buFont typeface="Arial" panose="020B0604020202020204"/>
              <a:buNone/>
            </a:pP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Guided by </a:t>
            </a:r>
            <a:r>
              <a:rPr lang="en-US" sz="2800" b="1" i="0" u="none" strike="noStrike" cap="none">
                <a:solidFill>
                  <a:srgbClr val="44536A"/>
                </a:solidFill>
                <a:latin typeface="Times New Roman" panose="02020603050405020304"/>
                <a:ea typeface="Times New Roman" panose="02020603050405020304"/>
                <a:cs typeface="Times New Roman" panose="02020603050405020304"/>
                <a:sym typeface="Times New Roman" panose="02020603050405020304"/>
              </a:rPr>
              <a:t>: </a:t>
            </a:r>
            <a:endParaRPr sz="2800" b="1" i="0" u="none" strike="noStrike" cap="none">
              <a:solidFill>
                <a:srgbClr val="44536A"/>
              </a:solidFill>
              <a:latin typeface="Times New Roman" panose="02020603050405020304"/>
              <a:ea typeface="Times New Roman" panose="02020603050405020304"/>
              <a:cs typeface="Times New Roman" panose="02020603050405020304"/>
              <a:sym typeface="Times New Roman" panose="02020603050405020304"/>
            </a:endParaRPr>
          </a:p>
          <a:p>
            <a:pPr marL="12700" marR="977265" lvl="0" indent="0" algn="l" rtl="0">
              <a:lnSpc>
                <a:spcPct val="100000"/>
              </a:lnSpc>
              <a:spcBef>
                <a:spcPts val="95"/>
              </a:spcBef>
              <a:spcAft>
                <a:spcPts val="0"/>
              </a:spcAft>
              <a:buClr>
                <a:srgbClr val="000000"/>
              </a:buClr>
              <a:buSzPts val="2800"/>
              <a:buFont typeface="Arial" panose="020B0604020202020204"/>
              <a:buNone/>
            </a:pP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Mr.</a:t>
            </a:r>
            <a:r>
              <a:rPr lang="en-US" sz="28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 Joshua Issac </a:t>
            </a:r>
            <a:r>
              <a:rPr 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M.E.,(Ph.D)</a:t>
            </a:r>
            <a:endParaRPr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2700" marR="0" lvl="0" indent="0" algn="l" rtl="0">
              <a:lnSpc>
                <a:spcPct val="120000"/>
              </a:lnSpc>
              <a:spcBef>
                <a:spcPts val="0"/>
              </a:spcBef>
              <a:spcAft>
                <a:spcPts val="0"/>
              </a:spcAft>
              <a:buClr>
                <a:srgbClr val="000000"/>
              </a:buClr>
              <a:buSzPts val="2800"/>
              <a:buFont typeface="Arial" panose="020B0604020202020204"/>
              <a:buNone/>
            </a:pP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ASSISTANT PROFESSOR / AI</a:t>
            </a:r>
            <a:endParaRPr sz="2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616585" lvl="0" indent="0" algn="r" rtl="0">
              <a:lnSpc>
                <a:spcPct val="100000"/>
              </a:lnSpc>
              <a:spcBef>
                <a:spcPts val="1765"/>
              </a:spcBef>
              <a:spcAft>
                <a:spcPts val="0"/>
              </a:spcAft>
              <a:buClr>
                <a:srgbClr val="000000"/>
              </a:buClr>
              <a:buSzPts val="1200"/>
              <a:buFont typeface="Arial" panose="020B0604020202020204"/>
              <a:buNone/>
            </a:pPr>
            <a:r>
              <a:rPr lang="en-US" sz="1200" b="0" i="0" u="none" strike="noStrike" cap="none">
                <a:solidFill>
                  <a:srgbClr val="878787"/>
                </a:solidFill>
                <a:latin typeface="Calibri" panose="020F0502020204030204"/>
                <a:ea typeface="Calibri" panose="020F0502020204030204"/>
                <a:cs typeface="Calibri" panose="020F0502020204030204"/>
                <a:sym typeface="Calibri" panose="020F0502020204030204"/>
              </a:rPr>
              <a:t>1</a:t>
            </a:r>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95" name="Google Shape;95;p1"/>
          <p:cNvPicPr preferRelativeResize="0"/>
          <p:nvPr/>
        </p:nvPicPr>
        <p:blipFill rotWithShape="1">
          <a:blip r:embed="rId1"/>
          <a:srcRect/>
          <a:stretch>
            <a:fillRect/>
          </a:stretch>
        </p:blipFill>
        <p:spPr>
          <a:xfrm>
            <a:off x="2719924" y="384623"/>
            <a:ext cx="6761095" cy="179896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p:nvPr/>
        </p:nvSpPr>
        <p:spPr>
          <a:xfrm>
            <a:off x="1865376" y="136550"/>
            <a:ext cx="7555880" cy="970500"/>
          </a:xfrm>
          <a:prstGeom prst="rect">
            <a:avLst/>
          </a:prstGeom>
          <a:noFill/>
          <a:ln>
            <a:noFill/>
          </a:ln>
          <a:effectLst>
            <a:outerShdw blurRad="25400">
              <a:srgbClr val="000000">
                <a:alpha val="45098"/>
              </a:srgbClr>
            </a:outerShdw>
          </a:effectLst>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4800"/>
              <a:buFont typeface="Times New Roman" panose="02020603050405020304"/>
              <a:buNone/>
            </a:pPr>
            <a:endParaRPr sz="4400" b="1"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1" name="Google Shape;101;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
        <p:nvSpPr>
          <p:cNvPr id="102" name="Google Shape;102;p2"/>
          <p:cNvSpPr txBox="1"/>
          <p:nvPr/>
        </p:nvSpPr>
        <p:spPr>
          <a:xfrm>
            <a:off x="-70485" y="1870075"/>
            <a:ext cx="12184380" cy="354838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altLang="en-US" sz="4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Predicting loan</a:t>
            </a:r>
            <a:r>
              <a:rPr lang="en-IN" altLang="en-US" sz="4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4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approval based on </a:t>
            </a:r>
            <a:endParaRPr lang="en-US" altLang="en-US" sz="4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None/>
            </a:pPr>
            <a:r>
              <a:rPr lang="en-US" altLang="en-US" sz="4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customer financial information.</a:t>
            </a:r>
            <a:endParaRPr lang="en-US" altLang="en-US" sz="4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411480"/>
            <a:ext cx="10515600" cy="5765483"/>
          </a:xfrm>
        </p:spPr>
        <p:txBody>
          <a:bodyPr/>
          <a:lstStyle/>
          <a:p>
            <a:pPr marL="114300" indent="0">
              <a:buNone/>
            </a:pPr>
            <a:r>
              <a:rPr lang="en-IN" b="1" dirty="0">
                <a:latin typeface="Times New Roman" panose="02020603050405020304" charset="0"/>
                <a:cs typeface="Times New Roman" panose="02020603050405020304" charset="0"/>
              </a:rPr>
              <a:t>OVERVIEW:</a:t>
            </a:r>
            <a:endParaRPr lang="en-IN" b="1" dirty="0">
              <a:latin typeface="Times New Roman" panose="02020603050405020304" charset="0"/>
              <a:cs typeface="Times New Roman" panose="02020603050405020304" charset="0"/>
            </a:endParaRPr>
          </a:p>
          <a:p>
            <a:r>
              <a:rPr lang="en-IN" dirty="0">
                <a:latin typeface="Times New Roman" panose="02020603050405020304" charset="0"/>
                <a:cs typeface="Times New Roman" panose="02020603050405020304" charset="0"/>
              </a:rPr>
              <a:t>Research Objective</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Problem Statement</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Abstract</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Literature Survey</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Proposed System</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Methodologies</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Implementation</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Result</a:t>
            </a:r>
            <a:endParaRPr lang="en-IN" dirty="0">
              <a:latin typeface="Times New Roman" panose="02020603050405020304" charset="0"/>
              <a:cs typeface="Times New Roman" panose="02020603050405020304" charset="0"/>
            </a:endParaRPr>
          </a:p>
          <a:p>
            <a:pPr>
              <a:buFont typeface="Arial" panose="020B0604020202020204" pitchFamily="34" charset="0"/>
              <a:buChar char="•"/>
            </a:pPr>
            <a:r>
              <a:rPr lang="en-IN" dirty="0">
                <a:latin typeface="Times New Roman" panose="02020603050405020304" charset="0"/>
                <a:cs typeface="Times New Roman" panose="02020603050405020304" charset="0"/>
              </a:rPr>
              <a:t>Conculsion</a:t>
            </a:r>
            <a:endParaRPr lang="en-IN" dirty="0">
              <a:latin typeface="Times New Roman" panose="02020603050405020304" charset="0"/>
              <a:cs typeface="Times New Roman" panose="02020603050405020304" charset="0"/>
            </a:endParaRPr>
          </a:p>
          <a:p>
            <a:pPr>
              <a:buFont typeface="Arial" panose="020B0604020202020204" pitchFamily="34" charset="0"/>
              <a:buChar char="•"/>
            </a:pPr>
            <a:endParaRPr lang="en-IN" dirty="0">
              <a:latin typeface="Times New Roman" panose="02020603050405020304" charset="0"/>
              <a:cs typeface="Times New Roman" panose="0202060305040502030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3748024" y="757679"/>
            <a:ext cx="5147894" cy="39598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56"/>
              <a:buFont typeface="Times New Roman" panose="02020603050405020304"/>
              <a:buNone/>
            </a:pPr>
            <a:r>
              <a:rPr lang="en-US" sz="3200" b="1">
                <a:latin typeface="Times New Roman" panose="02020603050405020304"/>
                <a:ea typeface="Times New Roman" panose="02020603050405020304"/>
                <a:cs typeface="Times New Roman" panose="02020603050405020304"/>
                <a:sym typeface="Times New Roman" panose="02020603050405020304"/>
              </a:rPr>
              <a:t>RESEARCH OBJECTIVE</a:t>
            </a:r>
            <a:endParaRPr sz="3200"/>
          </a:p>
        </p:txBody>
      </p:sp>
      <p:sp>
        <p:nvSpPr>
          <p:cNvPr id="108" name="Google Shape;108;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
        <p:nvSpPr>
          <p:cNvPr id="109" name="Google Shape;109;p3"/>
          <p:cNvSpPr txBox="1"/>
          <p:nvPr/>
        </p:nvSpPr>
        <p:spPr>
          <a:xfrm>
            <a:off x="340995" y="1967865"/>
            <a:ext cx="11360150" cy="399605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endParaRPr sz="3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 name="Google Shape;110;p3"/>
          <p:cNvSpPr txBox="1"/>
          <p:nvPr/>
        </p:nvSpPr>
        <p:spPr>
          <a:xfrm>
            <a:off x="451943" y="1349877"/>
            <a:ext cx="11740057" cy="4885913"/>
          </a:xfrm>
          <a:prstGeom prst="rect">
            <a:avLst/>
          </a:prstGeom>
          <a:noFill/>
          <a:ln>
            <a:noFill/>
          </a:ln>
        </p:spPr>
        <p:txBody>
          <a:bodyPr spcFirstLastPara="1" wrap="square" lIns="91425" tIns="45700" rIns="91425" bIns="45700" anchor="t" anchorCtr="0">
            <a:spAutoFit/>
          </a:bodyPr>
          <a:lstStyle/>
          <a:p>
            <a:pPr marL="342900" lvl="0" indent="-342900">
              <a:lnSpc>
                <a:spcPct val="150000"/>
              </a:lnSpc>
              <a:spcAft>
                <a:spcPts val="700"/>
              </a:spcAft>
              <a:buSzPts val="2800"/>
              <a:buFont typeface="Arial" panose="020B0604020202020204"/>
              <a:buChar char="•"/>
            </a:pPr>
            <a:r>
              <a:rPr lang="en-US" sz="2800" dirty="0">
                <a:solidFill>
                  <a:srgbClr val="232323"/>
                </a:solidFill>
                <a:latin typeface="Times New Roman" panose="02020603050405020304"/>
                <a:ea typeface="Times New Roman" panose="02020603050405020304"/>
                <a:cs typeface="Times New Roman" panose="02020603050405020304"/>
                <a:sym typeface="Times New Roman" panose="02020603050405020304"/>
              </a:rPr>
              <a:t>The main objective of this project is to develop a Deep Learning-based Loan Approval Prediction System that can predict whether a customer's loan application should be approved or rejected based on their financial and personal information.</a:t>
            </a:r>
            <a:endParaRPr lang="en-US" sz="2800" dirty="0">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nSpc>
                <a:spcPct val="150000"/>
              </a:lnSpc>
              <a:spcAft>
                <a:spcPts val="700"/>
              </a:spcAft>
              <a:buSzPts val="2800"/>
              <a:buFont typeface="Arial" panose="020B0604020202020204"/>
              <a:buChar char="•"/>
            </a:pPr>
            <a:r>
              <a:rPr lang="en-US" sz="2800" dirty="0">
                <a:solidFill>
                  <a:srgbClr val="232323"/>
                </a:solidFill>
                <a:latin typeface="Times New Roman" panose="02020603050405020304"/>
                <a:ea typeface="Times New Roman" panose="02020603050405020304"/>
                <a:cs typeface="Times New Roman" panose="02020603050405020304"/>
                <a:sym typeface="Times New Roman" panose="02020603050405020304"/>
              </a:rPr>
              <a:t>Specific Objectives</a:t>
            </a:r>
            <a:endParaRPr lang="en-US" sz="2800" dirty="0">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nSpc>
                <a:spcPct val="150000"/>
              </a:lnSpc>
              <a:spcAft>
                <a:spcPts val="700"/>
              </a:spcAft>
              <a:buSzPts val="2800"/>
              <a:buFont typeface="Arial" panose="020B0604020202020204"/>
              <a:buChar char="•"/>
            </a:pPr>
            <a:r>
              <a:rPr lang="en-US" sz="2800" dirty="0">
                <a:solidFill>
                  <a:srgbClr val="232323"/>
                </a:solidFill>
                <a:latin typeface="Times New Roman" panose="02020603050405020304"/>
                <a:ea typeface="Times New Roman" panose="02020603050405020304"/>
                <a:cs typeface="Times New Roman" panose="02020603050405020304"/>
                <a:sym typeface="Times New Roman" panose="02020603050405020304"/>
              </a:rPr>
              <a:t>To collect and preprocess historical loan application and customer financial data.</a:t>
            </a:r>
            <a:endParaRPr lang="en-US" sz="2800" dirty="0">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16" name="Google Shape;116;p4"/>
          <p:cNvSpPr txBox="1"/>
          <p:nvPr/>
        </p:nvSpPr>
        <p:spPr>
          <a:xfrm>
            <a:off x="3695835" y="643340"/>
            <a:ext cx="4914765"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 name="Google Shape;117;p4"/>
          <p:cNvSpPr/>
          <p:nvPr/>
        </p:nvSpPr>
        <p:spPr>
          <a:xfrm>
            <a:off x="573338" y="1228075"/>
            <a:ext cx="11045324" cy="5047495"/>
          </a:xfrm>
          <a:prstGeom prst="rect">
            <a:avLst/>
          </a:prstGeom>
          <a:noFill/>
          <a:ln>
            <a:noFill/>
          </a:ln>
        </p:spPr>
        <p:txBody>
          <a:bodyPr spcFirstLastPara="1" wrap="square" lIns="91425" tIns="45700" rIns="91425" bIns="45700" anchor="t" anchorCtr="0">
            <a:spAutoFit/>
          </a:bodyPr>
          <a:lstStyle/>
          <a:p>
            <a:pPr lvl="0">
              <a:buSzPts val="2800"/>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457200">
              <a:buSzPts val="2800"/>
              <a:buFont typeface="Arial" panose="020B0604020202020204"/>
              <a:buChar char="•"/>
            </a:pPr>
            <a:r>
              <a:rPr lang="en-US" sz="2800" dirty="0">
                <a:latin typeface="Times New Roman" panose="02020603050405020304"/>
                <a:ea typeface="Times New Roman" panose="02020603050405020304"/>
                <a:cs typeface="Times New Roman" panose="02020603050405020304"/>
                <a:sym typeface="Times New Roman" panose="02020603050405020304"/>
              </a:rPr>
              <a:t>Loan approval is an important decision made by banks and financial institutions. Traditionally, loan applications are evaluated using customer financial information such as income, credit history, loan amount, employment status, and other personal details. Manual evaluation can be time-consuming and may result in inconsistent decisions.</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457200">
              <a:buSzPts val="2800"/>
              <a:buFont typeface="Arial" panose="020B0604020202020204"/>
              <a:buChar char="•"/>
            </a:pPr>
            <a:r>
              <a:rPr lang="en-US" sz="2800" dirty="0">
                <a:latin typeface="Times New Roman" panose="02020603050405020304"/>
                <a:ea typeface="Times New Roman" panose="02020603050405020304"/>
                <a:cs typeface="Times New Roman" panose="02020603050405020304"/>
                <a:sym typeface="Times New Roman" panose="02020603050405020304"/>
              </a:rPr>
              <a:t>Therefore, there is a need for an automated and reliable loan approval prediction system. This project proposes a Deep Learning-based model that learns patterns from historical loan application data and predicts whether a new loan application is likely to be approved or rejected.</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lvl="0">
              <a:buSzPts val="2800"/>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30" name="Google Shape;130;p7"/>
          <p:cNvSpPr/>
          <p:nvPr/>
        </p:nvSpPr>
        <p:spPr>
          <a:xfrm>
            <a:off x="4842838" y="709434"/>
            <a:ext cx="250632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ABSTRACT</a:t>
            </a:r>
            <a:endParaRPr sz="3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 name="Google Shape;131;p7"/>
          <p:cNvSpPr txBox="1"/>
          <p:nvPr/>
        </p:nvSpPr>
        <p:spPr>
          <a:xfrm>
            <a:off x="381208" y="1760513"/>
            <a:ext cx="11245515" cy="3968115"/>
          </a:xfrm>
          <a:prstGeom prst="rect">
            <a:avLst/>
          </a:prstGeom>
          <a:noFill/>
          <a:ln>
            <a:noFill/>
          </a:ln>
        </p:spPr>
        <p:txBody>
          <a:bodyPr spcFirstLastPara="1" wrap="square" lIns="91425" tIns="45700" rIns="91425" bIns="45700" anchor="t" anchorCtr="0">
            <a:spAutoFit/>
          </a:bodyPr>
          <a:lstStyle/>
          <a:p>
            <a:pPr marL="0" lvl="0" indent="0">
              <a:lnSpc>
                <a:spcPct val="150000"/>
              </a:lnSpc>
              <a:buNone/>
            </a:pPr>
            <a:r>
              <a:rPr lang="en-US" sz="2400" dirty="0">
                <a:latin typeface="Times New Roman" panose="02020603050405020304"/>
                <a:ea typeface="Times New Roman" panose="02020603050405020304"/>
                <a:cs typeface="Times New Roman" panose="02020603050405020304"/>
                <a:sym typeface="Times New Roman" panose="02020603050405020304"/>
              </a:rPr>
              <a:t>The Loan Approval Prediction Using Deep Learning project aims to develop an automated system for predicting whether a customer's loan application will be approved or rejected based on financial and personal information. The system uses historical loan application data containing features such as applicant income, loan amount, credit history, employment status, loan term, education, and other relevant factors.</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0" lvl="0" indent="0">
              <a:lnSpc>
                <a:spcPct val="150000"/>
              </a:lnSpc>
              <a:buNone/>
            </a:pPr>
            <a:r>
              <a:rPr lang="en-US" sz="2400" dirty="0">
                <a:latin typeface="Times New Roman" panose="02020603050405020304"/>
                <a:ea typeface="Times New Roman" panose="02020603050405020304"/>
                <a:cs typeface="Times New Roman" panose="02020603050405020304"/>
                <a:sym typeface="Times New Roman" panose="02020603050405020304"/>
              </a:rPr>
              <a:t>The collected data is preprocessed by handling missing values, encoding categorical features, and scaling numerical feature.</a:t>
            </a:r>
            <a:endParaRPr 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5"/>
          <p:cNvSpPr txBox="1"/>
          <p:nvPr/>
        </p:nvSpPr>
        <p:spPr>
          <a:xfrm>
            <a:off x="3812567" y="376989"/>
            <a:ext cx="4842108"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LITERATURE SURVEY</a:t>
            </a:r>
            <a:endParaRPr sz="3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 name="Google Shape;137;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graphicFrame>
        <p:nvGraphicFramePr>
          <p:cNvPr id="138" name="Google Shape;138;p5"/>
          <p:cNvGraphicFramePr/>
          <p:nvPr/>
        </p:nvGraphicFramePr>
        <p:xfrm>
          <a:off x="609600" y="1196340"/>
          <a:ext cx="11049000" cy="5436870"/>
        </p:xfrm>
        <a:graphic>
          <a:graphicData uri="http://schemas.openxmlformats.org/drawingml/2006/table">
            <a:tbl>
              <a:tblPr firstRow="1" bandRow="1">
                <a:noFill/>
                <a:tableStyleId>{8B591053-D031-4802-A99B-086511E034F7}</a:tableStyleId>
              </a:tblPr>
              <a:tblGrid>
                <a:gridCol w="607060"/>
                <a:gridCol w="2503170"/>
                <a:gridCol w="621030"/>
                <a:gridCol w="2855595"/>
                <a:gridCol w="4462145"/>
              </a:tblGrid>
              <a:tr h="610870">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S.No</a:t>
                      </a:r>
                      <a:endParaRPr sz="14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Paper Name</a:t>
                      </a:r>
                      <a:endParaRPr lang="en-US" sz="14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Year</a:t>
                      </a:r>
                      <a:endParaRPr lang="en-US" sz="14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Algorithm Used</a:t>
                      </a:r>
                      <a:endParaRPr lang="en-US" sz="14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Key Finding</a:t>
                      </a:r>
                      <a:endParaRPr lang="en-US" sz="14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r>
              <a:tr h="1012825">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u="none" strike="noStrike" cap="none">
                          <a:latin typeface="Times New Roman" panose="02020603050405020304"/>
                          <a:ea typeface="Times New Roman" panose="02020603050405020304"/>
                          <a:cs typeface="Times New Roman" panose="02020603050405020304"/>
                          <a:sym typeface="Times New Roman" panose="02020603050405020304"/>
                        </a:rPr>
                        <a:t>1</a:t>
                      </a: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Deep Learning for Credit Risk Prediction:</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2026</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Reviewed modern DL techniques including MLP, CNN, RNN, LSTM, Transformers and GNNs for credit-risk prediction.</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 It highlights that deep learning can capture complex nonlinear relationships in borrower data, while interpretability, fairness and robustness remain important challenges.</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r>
              <a:tr h="132715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u="none" strike="noStrike" cap="none">
                          <a:latin typeface="Times New Roman" panose="02020603050405020304"/>
                          <a:ea typeface="Times New Roman" panose="02020603050405020304"/>
                          <a:cs typeface="Times New Roman" panose="02020603050405020304"/>
                          <a:sym typeface="Times New Roman" panose="02020603050405020304"/>
                        </a:rPr>
                        <a:t>2</a:t>
                      </a: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Machine Learning-Based Loan Approval Automation</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2026</a:t>
                      </a:r>
                      <a:endPar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Developed an automated loan-eligibility system and compared models such as Random Forest, XGBoost, stacking and voting ensembles.</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SMOTE was used to address class imbalance, with accuracy, precision, recall, F1-score and AUC used for evaluation.</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r>
              <a:tr h="860425">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u="none" strike="noStrike" cap="none">
                          <a:latin typeface="Times New Roman" panose="02020603050405020304"/>
                          <a:ea typeface="Times New Roman" panose="02020603050405020304"/>
                          <a:cs typeface="Times New Roman" panose="02020603050405020304"/>
                          <a:sym typeface="Times New Roman" panose="02020603050405020304"/>
                        </a:rPr>
                        <a:t>3</a:t>
                      </a: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Enhanced Credit Risk Prediction Using Deep Learning</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2025</a:t>
                      </a:r>
                      <a:endPar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Investigated CNN, LSTM, GRU and GNN models. </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SHAP was also used to improve model interpretability</a:t>
                      </a:r>
                      <a:r>
                        <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a:t>
                      </a:r>
                      <a:endPar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r>
              <a:tr h="94488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u="none" strike="noStrike" cap="none">
                          <a:latin typeface="Times New Roman" panose="02020603050405020304"/>
                          <a:ea typeface="Times New Roman" panose="02020603050405020304"/>
                          <a:cs typeface="Times New Roman" panose="02020603050405020304"/>
                          <a:sym typeface="Times New Roman" panose="02020603050405020304"/>
                        </a:rPr>
                        <a:t>4</a:t>
                      </a: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Loan Approval in Financial Sector</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2025</a:t>
                      </a:r>
                      <a:endParaRPr lang="en-IN"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Compared ensemble methods with Logistic Regression, Neural Networks, Decision Trees, Naive Bayes and SVM.</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rPr>
                        <a:t>The study reported strong performance from ensemble approaches and emphasized multiple evaluation measures such as ROC, AUC, accuracy and Brier score. </a:t>
                      </a:r>
                      <a:endParaRPr lang="en-US" alt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r>
              <a:tr h="680720">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en-US" sz="1400" b="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2"/>
          <p:cNvSpPr/>
          <p:nvPr/>
        </p:nvSpPr>
        <p:spPr>
          <a:xfrm>
            <a:off x="850778" y="1754702"/>
            <a:ext cx="3154680" cy="1508760"/>
          </a:xfrm>
          <a:prstGeom prst="roundRect">
            <a:avLst>
              <a:gd name="adj" fmla="val 16667"/>
            </a:avLst>
          </a:prstGeom>
          <a:solidFill>
            <a:srgbClr val="F2F7FC"/>
          </a:solidFill>
          <a:ln w="19050" cap="flat" cmpd="sng">
            <a:solidFill>
              <a:srgbClr val="0066B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1. </a:t>
            </a:r>
            <a:r>
              <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Customer Financial Data</a:t>
            </a:r>
            <a:endPar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None/>
            </a:pPr>
            <a:endParaRPr lang="en-US" sz="135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 name="Google Shape;145;p32"/>
          <p:cNvSpPr/>
          <p:nvPr/>
        </p:nvSpPr>
        <p:spPr>
          <a:xfrm>
            <a:off x="4518660" y="1754702"/>
            <a:ext cx="3154680" cy="1508760"/>
          </a:xfrm>
          <a:prstGeom prst="roundRect">
            <a:avLst>
              <a:gd name="adj" fmla="val 16667"/>
            </a:avLst>
          </a:prstGeom>
          <a:solidFill>
            <a:srgbClr val="F2F7FC"/>
          </a:solidFill>
          <a:ln w="19050" cap="flat" cmpd="sng">
            <a:solidFill>
              <a:srgbClr val="0066B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2.</a:t>
            </a:r>
            <a:r>
              <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Data Collection&amp;</a:t>
            </a: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 Data Preprocessing</a:t>
            </a:r>
            <a:endPar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None/>
            </a:pPr>
            <a:endParaRPr lang="en-US" sz="135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32"/>
          <p:cNvSpPr/>
          <p:nvPr/>
        </p:nvSpPr>
        <p:spPr>
          <a:xfrm>
            <a:off x="8133459" y="1754702"/>
            <a:ext cx="3154680" cy="1508760"/>
          </a:xfrm>
          <a:prstGeom prst="roundRect">
            <a:avLst>
              <a:gd name="adj" fmla="val 16667"/>
            </a:avLst>
          </a:prstGeom>
          <a:solidFill>
            <a:srgbClr val="F2F7FC"/>
          </a:solidFill>
          <a:ln w="19050" cap="flat" cmpd="sng">
            <a:solidFill>
              <a:srgbClr val="0066B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3. </a:t>
            </a:r>
            <a:r>
              <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Missing value Handling&amp;Categorical Encoding</a:t>
            </a:r>
            <a:endPar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None/>
            </a:pPr>
            <a:endParaRPr lang="en-US" sz="135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32"/>
          <p:cNvSpPr/>
          <p:nvPr/>
        </p:nvSpPr>
        <p:spPr>
          <a:xfrm>
            <a:off x="850778" y="3716020"/>
            <a:ext cx="3154680" cy="1508760"/>
          </a:xfrm>
          <a:prstGeom prst="roundRect">
            <a:avLst>
              <a:gd name="adj" fmla="val 16667"/>
            </a:avLst>
          </a:prstGeom>
          <a:solidFill>
            <a:srgbClr val="F2F7FC"/>
          </a:solidFill>
          <a:ln w="19050" cap="flat" cmpd="sng">
            <a:solidFill>
              <a:srgbClr val="0066B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4. </a:t>
            </a:r>
            <a:r>
              <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Feature scaling&amp;DNN Model</a:t>
            </a:r>
            <a:endPar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None/>
            </a:pPr>
            <a:endParaRPr lang="en-US" sz="135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8" name="Google Shape;148;p32"/>
          <p:cNvSpPr/>
          <p:nvPr/>
        </p:nvSpPr>
        <p:spPr>
          <a:xfrm>
            <a:off x="4518660" y="3662145"/>
            <a:ext cx="3154680" cy="1508760"/>
          </a:xfrm>
          <a:prstGeom prst="roundRect">
            <a:avLst>
              <a:gd name="adj" fmla="val 16667"/>
            </a:avLst>
          </a:prstGeom>
          <a:solidFill>
            <a:srgbClr val="F2F7FC"/>
          </a:solidFill>
          <a:ln w="19050" cap="flat" cmpd="sng">
            <a:solidFill>
              <a:srgbClr val="2D825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altLang="en-US" sz="1600" b="1" i="0" u="none" strike="noStrike" cap="none">
                <a:solidFill>
                  <a:srgbClr val="2D8255"/>
                </a:solidFill>
                <a:latin typeface="Times New Roman" panose="02020603050405020304"/>
                <a:ea typeface="Times New Roman" panose="02020603050405020304"/>
                <a:cs typeface="Times New Roman" panose="02020603050405020304"/>
                <a:sym typeface="Times New Roman" panose="02020603050405020304"/>
              </a:rPr>
              <a:t>5. Model Evaluation</a:t>
            </a:r>
            <a:endParaRPr lang="en-US" sz="1600" b="1" i="0" u="none" strike="noStrike" cap="none">
              <a:solidFill>
                <a:srgbClr val="2D8255"/>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None/>
            </a:pPr>
            <a:endParaRPr lang="en-US" sz="135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32"/>
          <p:cNvSpPr/>
          <p:nvPr/>
        </p:nvSpPr>
        <p:spPr>
          <a:xfrm>
            <a:off x="8133459" y="3716020"/>
            <a:ext cx="3154680" cy="1508760"/>
          </a:xfrm>
          <a:prstGeom prst="roundRect">
            <a:avLst>
              <a:gd name="adj" fmla="val 16667"/>
            </a:avLst>
          </a:prstGeom>
          <a:solidFill>
            <a:srgbClr val="F2F7FC"/>
          </a:solidFill>
          <a:ln w="19050" cap="flat" cmpd="sng">
            <a:solidFill>
              <a:srgbClr val="0066B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6.</a:t>
            </a:r>
            <a:r>
              <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Approved/Rejected</a:t>
            </a:r>
            <a:endPar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32"/>
          <p:cNvSpPr txBox="1"/>
          <p:nvPr/>
        </p:nvSpPr>
        <p:spPr>
          <a:xfrm>
            <a:off x="397154" y="5822137"/>
            <a:ext cx="10698480" cy="3359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Final Output: Accurate </a:t>
            </a:r>
            <a:r>
              <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loan</a:t>
            </a: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-status classification to support faster identification </a:t>
            </a:r>
            <a:r>
              <a:rPr lang="en-IN" alt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of financial data</a:t>
            </a:r>
            <a:r>
              <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rPr>
              <a:t>.</a:t>
            </a:r>
            <a:endParaRPr lang="en-US" sz="1600" b="1" i="0" u="none" strike="noStrike" cap="none">
              <a:solidFill>
                <a:srgbClr val="0066B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32"/>
          <p:cNvSpPr txBox="1"/>
          <p:nvPr/>
        </p:nvSpPr>
        <p:spPr>
          <a:xfrm>
            <a:off x="4005458" y="717409"/>
            <a:ext cx="4657279"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SYSTEMS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8"/>
          <p:cNvSpPr txBox="1">
            <a:spLocks noGrp="1"/>
          </p:cNvSpPr>
          <p:nvPr>
            <p:ph type="title"/>
          </p:nvPr>
        </p:nvSpPr>
        <p:spPr>
          <a:xfrm>
            <a:off x="4060123" y="469342"/>
            <a:ext cx="4071754" cy="745894"/>
          </a:xfrm>
          <a:prstGeom prst="rect">
            <a:avLst/>
          </a:prstGeom>
          <a:noFill/>
          <a:ln>
            <a:noFill/>
          </a:ln>
        </p:spPr>
        <p:txBody>
          <a:bodyPr spcFirstLastPara="1" wrap="square" lIns="0" tIns="238300" rIns="0" bIns="0" anchor="ctr" anchorCtr="0">
            <a:spAutoFit/>
          </a:bodyPr>
          <a:lstStyle/>
          <a:p>
            <a:pPr marL="218440" lvl="0" indent="0" algn="l" rtl="0">
              <a:lnSpc>
                <a:spcPct val="100000"/>
              </a:lnSpc>
              <a:spcBef>
                <a:spcPts val="105"/>
              </a:spcBef>
              <a:spcAft>
                <a:spcPts val="0"/>
              </a:spcAft>
              <a:buSzPts val="1800"/>
              <a:buNone/>
            </a:pPr>
            <a:r>
              <a:rPr lang="en-US" sz="3200" b="1">
                <a:latin typeface="Times New Roman" panose="02020603050405020304"/>
                <a:ea typeface="Times New Roman" panose="02020603050405020304"/>
                <a:cs typeface="Times New Roman" panose="02020603050405020304"/>
                <a:sym typeface="Times New Roman" panose="02020603050405020304"/>
              </a:rPr>
              <a:t>METHODOLOGIES</a:t>
            </a:r>
            <a:endParaRPr sz="3200" b="1">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p8"/>
          <p:cNvSpPr txBox="1"/>
          <p:nvPr/>
        </p:nvSpPr>
        <p:spPr>
          <a:xfrm>
            <a:off x="480695" y="1215390"/>
            <a:ext cx="12530455" cy="65633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en-US" altLang="en-US" sz="1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The proposed Loan Approval Prediction Using Deep Learning system follows a systematic methodology to predict whether a loan application will be approved or rejected.</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 Data Collection</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Historical loan application data is collected containing customer financial and personal information such as:</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Applicant income</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Co-applicant income</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Loan amount</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Loan term</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Employment status</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Education</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Property area</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Loan approval status</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0"/>
          <p:cNvSpPr txBox="1">
            <a:spLocks noGrp="1"/>
          </p:cNvSpPr>
          <p:nvPr>
            <p:ph type="sldNum" idx="4294967295"/>
          </p:nvPr>
        </p:nvSpPr>
        <p:spPr>
          <a:xfrm>
            <a:off x="11068811" y="6464680"/>
            <a:ext cx="244475" cy="178434"/>
          </a:xfrm>
          <a:prstGeom prst="rect">
            <a:avLst/>
          </a:prstGeom>
          <a:noFill/>
          <a:ln>
            <a:noFill/>
          </a:ln>
        </p:spPr>
        <p:txBody>
          <a:bodyPr spcFirstLastPara="1" wrap="square" lIns="0" tIns="0" rIns="0" bIns="0" anchor="ctr" anchorCtr="0">
            <a:spAutoFit/>
          </a:bodyPr>
          <a:lstStyle/>
          <a:p>
            <a:pPr marL="38100" lvl="0" indent="0" algn="r" rtl="0">
              <a:lnSpc>
                <a:spcPct val="103000"/>
              </a:lnSpc>
              <a:spcBef>
                <a:spcPts val="0"/>
              </a:spcBef>
              <a:spcAft>
                <a:spcPts val="0"/>
              </a:spcAft>
              <a:buSzPts val="1200"/>
              <a:buNone/>
            </a:pPr>
            <a:fld id="{00000000-1234-1234-1234-123412341234}" type="slidenum">
              <a:rPr lang="en-US"/>
            </a:fld>
            <a:endParaRPr lang="en-US"/>
          </a:p>
        </p:txBody>
      </p:sp>
      <p:sp>
        <p:nvSpPr>
          <p:cNvPr id="185" name="Google Shape;185;p10"/>
          <p:cNvSpPr txBox="1"/>
          <p:nvPr/>
        </p:nvSpPr>
        <p:spPr>
          <a:xfrm>
            <a:off x="218368" y="1261833"/>
            <a:ext cx="11755263" cy="562991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alt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2. Data Preprocessing</a:t>
            </a:r>
            <a:endParaRPr lang="en-US" alt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The collected dataset is cleaned before training:</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Missing values are handled.</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Duplicate records are removed.</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Categorical variables are converted into numerical values.</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Numerical features are scaled or normalized.</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r>
              <a:rPr lang="en-US" alt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3. Feature Selection</a:t>
            </a:r>
            <a:endParaRPr lang="en-US" alt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r>
              <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Important features that influence loan approval are selected. Irrelevant or redundant features are removed to improve model efficiency.</a:t>
            </a: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lang="en-US" alt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6" name="Google Shape;186;p10"/>
          <p:cNvSpPr txBox="1"/>
          <p:nvPr/>
        </p:nvSpPr>
        <p:spPr>
          <a:xfrm>
            <a:off x="2050741" y="350412"/>
            <a:ext cx="8758990" cy="74251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DATA COLLECTION &amp; PREPROCESSING</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1"/>
          <p:cNvSpPr/>
          <p:nvPr/>
        </p:nvSpPr>
        <p:spPr>
          <a:xfrm>
            <a:off x="1710488" y="505326"/>
            <a:ext cx="877102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FEATURE SELECTION &amp; DATA SPLITTING</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Box 1"/>
          <p:cNvSpPr txBox="1"/>
          <p:nvPr/>
        </p:nvSpPr>
        <p:spPr>
          <a:xfrm>
            <a:off x="374015" y="1414780"/>
            <a:ext cx="10243820" cy="4723130"/>
          </a:xfrm>
          <a:prstGeom prst="rect">
            <a:avLst/>
          </a:prstGeom>
          <a:noFill/>
        </p:spPr>
        <p:txBody>
          <a:bodyPr wrap="square" rtlCol="0" anchor="t">
            <a:noAutofit/>
          </a:bodyPr>
          <a:p>
            <a:r>
              <a:rPr lang="en-US" altLang="en-US" sz="2400" b="1">
                <a:latin typeface="Times New Roman" panose="02020603050405020304" charset="0"/>
                <a:cs typeface="Times New Roman" panose="02020603050405020304" charset="0"/>
              </a:rPr>
              <a:t>4. Dataset Splitting</a:t>
            </a:r>
            <a:endParaRPr lang="en-US" altLang="en-US" sz="2400" b="1">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The dataset is divided into:</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Training data – used to train the DNN.</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Testing data – used to evaluate the trained model.</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For example, an 80:20 ratio can be used for training and testing.</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a:p>
            <a:r>
              <a:rPr lang="en-US" altLang="en-US" sz="2400" b="1">
                <a:latin typeface="Times New Roman" panose="02020603050405020304" charset="0"/>
                <a:cs typeface="Times New Roman" panose="02020603050405020304" charset="0"/>
              </a:rPr>
              <a:t>5. Deep Learning Model Development</a:t>
            </a:r>
            <a:endParaRPr lang="en-US" altLang="en-US" sz="2400" b="1">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 Deep Neural Network (DNN) is developed using TensorFlow/Keras.</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Model Optimization</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The Adam optimizer is used to update the model weights and minimize the prediction error. Binary Cross-Entropy is used as the loss function because loan approval is a binary classification problem.</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2"/>
          <p:cNvSpPr/>
          <p:nvPr/>
        </p:nvSpPr>
        <p:spPr>
          <a:xfrm>
            <a:off x="2584783" y="529709"/>
            <a:ext cx="7022432" cy="58229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PREDICTION</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 name="Google Shape;198;p12"/>
          <p:cNvSpPr txBox="1"/>
          <p:nvPr/>
        </p:nvSpPr>
        <p:spPr>
          <a:xfrm>
            <a:off x="112395" y="1411605"/>
            <a:ext cx="11967210" cy="46799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6</a:t>
            </a:r>
            <a:r>
              <a:rPr lang="en-US"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 Model Training</a:t>
            </a:r>
            <a:endParaRPr lang="en-US"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The DNN is trained using the training dataset for multiple epochs. During training, the model learns the relationship between customer financial information and loan approval outcomes.</a:t>
            </a: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IN"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7</a:t>
            </a:r>
            <a:r>
              <a:rPr lang="en-US"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 Prediction</a:t>
            </a:r>
            <a:endParaRPr lang="en-US"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After training, new customer information is provided to the model. The model generates a probability and classifies the application as:</a:t>
            </a: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Approved or Rejected</a:t>
            </a:r>
            <a:r>
              <a:rPr lang="en-IN"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a:t>
            </a:r>
            <a:endParaRPr lang="en-IN"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IN"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8</a:t>
            </a:r>
            <a:r>
              <a:rPr lang="en-US"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 Performance Evaluation</a:t>
            </a:r>
            <a:endParaRPr lang="en-US" altLang="en-US" sz="240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The model is evaluated using:</a:t>
            </a: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Accuracy</a:t>
            </a: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Precision</a:t>
            </a: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r>
              <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Confusion Matrix</a:t>
            </a:r>
            <a:endParaRPr lang="en-US" altLang="en-US" sz="2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9" name="Google Shape;209;p33"/>
          <p:cNvSpPr txBox="1">
            <a:spLocks noGrp="1"/>
          </p:cNvSpPr>
          <p:nvPr>
            <p:ph type="body" idx="1"/>
          </p:nvPr>
        </p:nvSpPr>
        <p:spPr>
          <a:xfrm>
            <a:off x="4206674" y="570964"/>
            <a:ext cx="420537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SzPts val="1800"/>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IMPLEMENTATION</a:t>
            </a:r>
            <a:endParaRPr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Box 1"/>
          <p:cNvSpPr txBox="1"/>
          <p:nvPr/>
        </p:nvSpPr>
        <p:spPr>
          <a:xfrm>
            <a:off x="944880" y="1953895"/>
            <a:ext cx="10615930" cy="2367915"/>
          </a:xfrm>
          <a:prstGeom prst="rect">
            <a:avLst/>
          </a:prstGeom>
          <a:noFill/>
        </p:spPr>
        <p:txBody>
          <a:bodyPr wrap="square" rtlCol="0">
            <a:noAutofit/>
          </a:bodyPr>
          <a:p>
            <a:r>
              <a:rPr lang="en-US" altLang="en-US" sz="2400">
                <a:latin typeface="Times New Roman" panose="02020603050405020304" charset="0"/>
                <a:cs typeface="Times New Roman" panose="02020603050405020304" charset="0"/>
              </a:rPr>
              <a:t>The Loan Approval Prediction Using Deep Learning system is implemented using Python, Pandas, NumPy, Scikit-learn, and TensorFlow/Keras. The implementation consists of data preprocessing, DNN model development, training, and prediction.</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1.</a:t>
            </a:r>
            <a:r>
              <a:rPr lang="en-US" altLang="en-US" sz="2400">
                <a:latin typeface="Times New Roman" panose="02020603050405020304" charset="0"/>
                <a:cs typeface="Times New Roman" panose="02020603050405020304" charset="0"/>
              </a:rPr>
              <a:t>Input Data – Take customer income, loan amount, and credit score.</a:t>
            </a:r>
            <a:endParaRPr lang="en-US"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2.</a:t>
            </a:r>
            <a:r>
              <a:rPr lang="en-US" altLang="en-US" sz="2400">
                <a:latin typeface="Times New Roman" panose="02020603050405020304" charset="0"/>
                <a:cs typeface="Times New Roman" panose="02020603050405020304" charset="0"/>
              </a:rPr>
              <a:t>Preprocessing – Convert the values into numerical/normalized form.</a:t>
            </a:r>
            <a:endParaRPr lang="en-US"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3.</a:t>
            </a:r>
            <a:r>
              <a:rPr lang="en-US" altLang="en-US" sz="2400">
                <a:latin typeface="Times New Roman" panose="02020603050405020304" charset="0"/>
                <a:cs typeface="Times New Roman" panose="02020603050405020304" charset="0"/>
              </a:rPr>
              <a:t>Hidden Layer – Calculate the weighted input and bias.</a:t>
            </a:r>
            <a:endParaRPr lang="en-US"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4.</a:t>
            </a:r>
            <a:r>
              <a:rPr lang="en-US" altLang="en-US" sz="2400">
                <a:latin typeface="Times New Roman" panose="02020603050405020304" charset="0"/>
                <a:cs typeface="Times New Roman" panose="02020603050405020304" charset="0"/>
              </a:rPr>
              <a:t>Activation – Apply the Sigmoid function.</a:t>
            </a:r>
            <a:endParaRPr lang="en-US"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5.</a:t>
            </a:r>
            <a:r>
              <a:rPr lang="en-US" altLang="en-US" sz="2400">
                <a:latin typeface="Times New Roman" panose="02020603050405020304" charset="0"/>
                <a:cs typeface="Times New Roman" panose="02020603050405020304" charset="0"/>
              </a:rPr>
              <a:t>Output Layer – Calculate the loan approval probability.</a:t>
            </a:r>
            <a:endParaRPr lang="en-US" altLang="en-US" sz="2400">
              <a:latin typeface="Times New Roman" panose="02020603050405020304" charset="0"/>
              <a:cs typeface="Times New Roman" panose="02020603050405020304" charset="0"/>
            </a:endParaRPr>
          </a:p>
          <a:p>
            <a:r>
              <a:rPr lang="en-IN" altLang="en-US" sz="2400">
                <a:latin typeface="Times New Roman" panose="02020603050405020304" charset="0"/>
                <a:cs typeface="Times New Roman" panose="02020603050405020304" charset="0"/>
              </a:rPr>
              <a:t>6.</a:t>
            </a:r>
            <a:r>
              <a:rPr lang="en-US" altLang="en-US" sz="2400">
                <a:latin typeface="Times New Roman" panose="02020603050405020304" charset="0"/>
                <a:cs typeface="Times New Roman" panose="02020603050405020304" charset="0"/>
              </a:rPr>
              <a:t>Decision – If probability ≥ 0.5, predict Loan Approved; otherwise Loan Rejected.</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5" name="Text Box 4"/>
          <p:cNvSpPr txBox="1"/>
          <p:nvPr/>
        </p:nvSpPr>
        <p:spPr>
          <a:xfrm>
            <a:off x="2353945" y="1694815"/>
            <a:ext cx="4064000" cy="306705"/>
          </a:xfrm>
          <a:prstGeom prst="rect">
            <a:avLst/>
          </a:prstGeom>
          <a:noFill/>
        </p:spPr>
        <p:txBody>
          <a:bodyPr wrap="square" rtlCol="0">
            <a:spAutoFit/>
          </a:bodyPr>
          <a:p>
            <a:endParaRPr lang="en-US"/>
          </a:p>
        </p:txBody>
      </p:sp>
      <p:pic>
        <p:nvPicPr>
          <p:cNvPr id="6" name="Picture 5"/>
          <p:cNvPicPr>
            <a:picLocks noChangeAspect="1"/>
          </p:cNvPicPr>
          <p:nvPr/>
        </p:nvPicPr>
        <p:blipFill>
          <a:blip r:embed="rId1"/>
          <a:stretch>
            <a:fillRect/>
          </a:stretch>
        </p:blipFill>
        <p:spPr>
          <a:xfrm>
            <a:off x="856615" y="0"/>
            <a:ext cx="100711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215" name="Google Shape;215;p15"/>
          <p:cNvSpPr txBox="1"/>
          <p:nvPr/>
        </p:nvSpPr>
        <p:spPr>
          <a:xfrm>
            <a:off x="4034803" y="545616"/>
            <a:ext cx="469210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RESULT AND OUTPUT</a:t>
            </a:r>
            <a:endParaRPr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 name="Google Shape;216;p15" descr="Output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7" name="Google Shape;217;p15" descr="Output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8" name="Google Shape;218;p15" descr="Output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Text Box 1"/>
          <p:cNvSpPr txBox="1"/>
          <p:nvPr/>
        </p:nvSpPr>
        <p:spPr>
          <a:xfrm>
            <a:off x="459740" y="1676400"/>
            <a:ext cx="11404600" cy="4124960"/>
          </a:xfrm>
          <a:prstGeom prst="rect">
            <a:avLst/>
          </a:prstGeom>
          <a:noFill/>
        </p:spPr>
        <p:txBody>
          <a:bodyPr wrap="square" rtlCol="0">
            <a:noAutofit/>
          </a:bodyPr>
          <a:p>
            <a:r>
              <a:rPr lang="en-US" altLang="en-US" sz="2000">
                <a:latin typeface="Times New Roman" panose="02020603050405020304" charset="0"/>
                <a:cs typeface="Times New Roman" panose="02020603050405020304" charset="0"/>
              </a:rPr>
              <a:t>Th</a:t>
            </a:r>
            <a:r>
              <a:rPr lang="en-US" altLang="en-US" sz="2400">
                <a:latin typeface="Times New Roman" panose="02020603050405020304" charset="0"/>
                <a:cs typeface="Times New Roman" panose="02020603050405020304" charset="0"/>
              </a:rPr>
              <a:t>e proposed Loan Approval Prediction Using Deep Learning system was successfully implemented using a Deep Neural Network (DNN). The model was trained using customer financial information such as income, loan amount, loan term, credit history, and employment status.</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After training, the model was tested with unseen loan applications and successfully predicted whether the applications were Approved or Rejected. The performance was evaluated using Accuracy, Precision, Recall, F1-score, and Confusion Matrix.</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The use of the Adam optimizer helped the DNN effectively minimize the training loss and improve the learning process. The Sigmoid activation function provided the probability of loan approval.</a:t>
            </a:r>
            <a:endParaRPr lang="en-US" sz="24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4"/>
          <p:cNvSpPr txBox="1"/>
          <p:nvPr/>
        </p:nvSpPr>
        <p:spPr>
          <a:xfrm>
            <a:off x="419739" y="1593683"/>
            <a:ext cx="11506263" cy="4855845"/>
          </a:xfrm>
          <a:prstGeom prst="rect">
            <a:avLst/>
          </a:prstGeom>
          <a:noFill/>
          <a:ln>
            <a:noFill/>
          </a:ln>
        </p:spPr>
        <p:txBody>
          <a:bodyPr spcFirstLastPara="1" wrap="square" lIns="73150" tIns="27425" rIns="36575" bIns="27425" anchor="t" anchorCtr="0">
            <a:spAutoFit/>
          </a:bodyPr>
          <a:lstStyle/>
          <a:p>
            <a:pPr marL="0" marR="0" lvl="0" indent="0" algn="l" rtl="0">
              <a:lnSpc>
                <a:spcPct val="100000"/>
              </a:lnSpc>
              <a:spcBef>
                <a:spcPts val="0"/>
              </a:spcBef>
              <a:spcAft>
                <a:spcPts val="0"/>
              </a:spcAft>
              <a:buNone/>
            </a:pPr>
            <a:r>
              <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rPr>
              <a:t>The Loan Approval Prediction Using Deep Learning project successfully develops an automated system for predicting loan approval based on customer financial and personal information. A Deep Neural Network (DNN) is used to learn patterns from historical loan data and classify applications as Approved or Rejected.</a:t>
            </a:r>
            <a:endPar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rPr>
              <a:t>Data preprocessing, feature scaling, ReLU and Sigmoid activation functions, and the Adam optimization algorithm are incorporated to improve the learning process. The model is evaluated using accuracy, precision, recall, F1-score, and confusion matrix.</a:t>
            </a:r>
            <a:endPar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r>
              <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rPr>
              <a:t>The proposed system can help financial institutions reduce manual processing time, improve consistency, and support data-driven loan decisions. In the future, the system can be improved using larger datasets, advanced deep learning models, explainable AI techniques, and real-time financial data.</a:t>
            </a:r>
            <a:endParaRPr lang="en-US" altLang="en-US" sz="2400" b="0" i="0" u="none" strike="noStrike" cap="none">
              <a:solidFill>
                <a:srgbClr val="23232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6" name="Google Shape;226;p34"/>
          <p:cNvSpPr txBox="1">
            <a:spLocks noGrp="1"/>
          </p:cNvSpPr>
          <p:nvPr>
            <p:ph type="body" idx="1"/>
          </p:nvPr>
        </p:nvSpPr>
        <p:spPr>
          <a:xfrm>
            <a:off x="2653282" y="641017"/>
            <a:ext cx="7218245"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SzPts val="1800"/>
              <a:buNone/>
            </a:pPr>
            <a:r>
              <a:rPr lang="en-US" sz="3200" b="1">
                <a:solidFill>
                  <a:srgbClr val="000000"/>
                </a:solidFill>
                <a:latin typeface="Times New Roman" panose="02020603050405020304"/>
                <a:ea typeface="Times New Roman" panose="02020603050405020304"/>
                <a:cs typeface="Times New Roman" panose="02020603050405020304"/>
                <a:sym typeface="Times New Roman" panose="02020603050405020304"/>
              </a:rPr>
              <a:t>CONCLUSION</a:t>
            </a: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AND </a:t>
            </a:r>
            <a:r>
              <a:rPr lang="en-US" sz="3200" b="1">
                <a:solidFill>
                  <a:srgbClr val="000000"/>
                </a:solidFill>
                <a:latin typeface="Times New Roman" panose="02020603050405020304"/>
                <a:ea typeface="Times New Roman" panose="02020603050405020304"/>
                <a:cs typeface="Times New Roman" panose="02020603050405020304"/>
                <a:sym typeface="Times New Roman" panose="02020603050405020304"/>
              </a:rPr>
              <a:t>FUTURE SCOPE</a:t>
            </a:r>
            <a:endParaRPr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0"/>
        <p:cNvGrpSpPr/>
        <p:nvPr/>
      </p:nvGrpSpPr>
      <p:grpSpPr>
        <a:xfrm>
          <a:off x="0" y="0"/>
          <a:ext cx="0" cy="0"/>
          <a:chOff x="0" y="0"/>
          <a:chExt cx="0" cy="0"/>
        </a:xfrm>
      </p:grpSpPr>
      <p:sp>
        <p:nvSpPr>
          <p:cNvPr id="231" name="Google Shape;231;p17"/>
          <p:cNvSpPr txBox="1">
            <a:spLocks noGrp="1"/>
          </p:cNvSpPr>
          <p:nvPr>
            <p:ph type="title"/>
          </p:nvPr>
        </p:nvSpPr>
        <p:spPr>
          <a:xfrm>
            <a:off x="2274211" y="2943775"/>
            <a:ext cx="7643578" cy="970450"/>
          </a:xfrm>
          <a:prstGeom prst="rect">
            <a:avLst/>
          </a:prstGeom>
          <a:no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Clr>
                <a:schemeClr val="dk1"/>
              </a:buClr>
              <a:buSzPts val="12000"/>
              <a:buFont typeface="Arial" panose="020B0604020202020204"/>
              <a:buNone/>
            </a:pPr>
            <a:r>
              <a:rPr lang="en-US" sz="11500" b="1">
                <a:latin typeface="Times New Roman" panose="02020603050405020304"/>
                <a:ea typeface="Times New Roman" panose="02020603050405020304"/>
                <a:cs typeface="Times New Roman" panose="02020603050405020304"/>
                <a:sym typeface="Times New Roman" panose="02020603050405020304"/>
              </a:rPr>
              <a:t>Thank You</a:t>
            </a:r>
            <a:endParaRPr sz="11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32" name="Google Shape;232;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7486</Words>
  <Application>WPS Presentation</Application>
  <PresentationFormat>Widescreen</PresentationFormat>
  <Paragraphs>225</Paragraphs>
  <Slides>17</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Arial</vt:lpstr>
      <vt:lpstr>Calibri</vt:lpstr>
      <vt:lpstr>Times New Roman</vt:lpstr>
      <vt:lpstr>Times New Roman</vt:lpstr>
      <vt:lpstr>Microsoft YaHei</vt:lpstr>
      <vt:lpstr>Arial Unicode MS</vt:lpstr>
      <vt:lpstr>Office Theme</vt:lpstr>
      <vt:lpstr>PowerPoint 演示文稿</vt:lpstr>
      <vt:lpstr>PowerPoint 演示文稿</vt:lpstr>
      <vt:lpstr>PowerPoint 演示文稿</vt:lpstr>
      <vt:lpstr>RESEARCH OBJECTIVE</vt:lpstr>
      <vt:lpstr>PowerPoint 演示文稿</vt:lpstr>
      <vt:lpstr>PowerPoint 演示文稿</vt:lpstr>
      <vt:lpstr>PowerPoint 演示文稿</vt:lpstr>
      <vt:lpstr>PowerPoint 演示文稿</vt:lpstr>
      <vt:lpstr>METHODOLOGIES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Devirani Shita</dc:creator>
  <cp:lastModifiedBy>Shiva Shiva</cp:lastModifiedBy>
  <cp:revision>4</cp:revision>
  <dcterms:created xsi:type="dcterms:W3CDTF">2025-08-28T06:25:00Z</dcterms:created>
  <dcterms:modified xsi:type="dcterms:W3CDTF">2026-10-05T04:44:38Z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CE7B80835FFE49B3BF46DBB10D44E09B_13</vt:lpwstr>
  </property>
  <property fmtid="{D5CDD505-2E9C-101B-9397-08002B2CF9AE}" pid="3" name="KSOProductBuildVer">
    <vt:lpwstr>1033-12.1.0.28485</vt:lpwstr>
  </property>
</Properties>
</file>